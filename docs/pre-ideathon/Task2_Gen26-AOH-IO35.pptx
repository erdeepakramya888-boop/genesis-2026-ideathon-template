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viewProps" Target="view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presProps" Target="presProps.xml" /><Relationship Id="rId5" Type="http://schemas.openxmlformats.org/officeDocument/2006/relationships/slide" Target="slides/slide4.xml" /><Relationship Id="rId10"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p:spPr>
      </p:sp>
      <p:sp>
        <p:nvSpPr>
          <p:cNvPr id="5" name="Text 2"/>
          <p:cNvSpPr/>
          <p:nvPr/>
        </p:nvSpPr>
        <p:spPr>
          <a:xfrm>
            <a:off x="2286000" y="6355080"/>
            <a:ext cx="7619695" cy="502920"/>
          </a:xfrm>
          <a:prstGeom prst="rect">
            <a:avLst/>
          </a:prstGeom>
          <a:noFill/>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p:spPr>
        <p:txBody>
          <a:bodyPr wrap="square" rtlCol="0"/>
          <a:lstStyle>
            <a:lvl1pPr marL="0" indent="0" algn="ctr">
              <a:buNone/>
              <a:def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defRPr>
            </a:lvl1pP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4"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2.xml" /><Relationship Id="rId1" Type="http://schemas.openxmlformats.org/officeDocument/2006/relationships/slideLayout" Target="../slideLayouts/slideLayout3.xml" /><Relationship Id="rId4" Type="http://schemas.openxmlformats.org/officeDocument/2006/relationships/image" Target="../media/image3.png" /></Relationships>
</file>

<file path=ppt/slides/_rels/slide3.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3.xml" /><Relationship Id="rId1" Type="http://schemas.openxmlformats.org/officeDocument/2006/relationships/slideLayout" Target="../slideLayouts/slideLayout3.xml" /><Relationship Id="rId4" Type="http://schemas.openxmlformats.org/officeDocument/2006/relationships/image" Target="../media/image3.png" /></Relationships>
</file>

<file path=ppt/slides/_rels/slide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4.xml" /><Relationship Id="rId1" Type="http://schemas.openxmlformats.org/officeDocument/2006/relationships/slideLayout" Target="../slideLayouts/slideLayout3.xml" /><Relationship Id="rId4" Type="http://schemas.openxmlformats.org/officeDocument/2006/relationships/image" Target="../media/image3.png" /></Relationships>
</file>

<file path=ppt/slides/_rels/slide5.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5.xml" /><Relationship Id="rId1" Type="http://schemas.openxmlformats.org/officeDocument/2006/relationships/slideLayout" Target="../slideLayouts/slideLayout3.xml" /><Relationship Id="rId4" Type="http://schemas.openxmlformats.org/officeDocument/2006/relationships/image" Target="../media/image3.png" /></Relationships>
</file>

<file path=ppt/slides/_rels/slide6.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6.xml" /><Relationship Id="rId1" Type="http://schemas.openxmlformats.org/officeDocument/2006/relationships/slideLayout" Target="../slideLayouts/slideLayout3.xml" /><Relationship Id="rId4" Type="http://schemas.openxmlformats.org/officeDocument/2006/relationships/image" Target="../media/image3.png" /></Relationships>
</file>

<file path=ppt/slides/_rels/slide7.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7.xml" /><Relationship Id="rId1" Type="http://schemas.openxmlformats.org/officeDocument/2006/relationships/slideLayout" Target="../slideLayouts/slideLayout3.xml" /><Relationship Id="rId4" Type="http://schemas.openxmlformats.org/officeDocument/2006/relationships/image" Target="../media/image3.png" /></Relationships>
</file>

<file path=ppt/slides/_rels/slide8.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8.xml" /><Relationship Id="rId1" Type="http://schemas.openxmlformats.org/officeDocument/2006/relationships/slideLayout" Target="../slideLayouts/slideLayout3.xml" /><Relationship Id="rId4" Type="http://schemas.openxmlformats.org/officeDocument/2006/relationships/image" Target="../media/image3.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p:spPr>
      </p:sp>
      <p:sp>
        <p:nvSpPr>
          <p:cNvPr id="6" name="Cover Hexagon"/>
          <p:cNvSpPr/>
          <p:nvPr/>
        </p:nvSpPr>
        <p:spPr>
          <a:xfrm rot="5400000">
            <a:off x="10849583" y="1728216"/>
            <a:ext cx="337874" cy="292608"/>
          </a:xfrm>
          <a:prstGeom prst="hexagon">
            <a:avLst/>
          </a:prstGeom>
          <a:solidFill>
            <a:schemeClr val="accent3">
              <a:alpha val="70000"/>
            </a:schemeClr>
          </a:solidFill>
        </p:spPr>
      </p:sp>
      <p:sp>
        <p:nvSpPr>
          <p:cNvPr id="7" name="Cover Hexagon"/>
          <p:cNvSpPr/>
          <p:nvPr/>
        </p:nvSpPr>
        <p:spPr>
          <a:xfrm rot="5400000">
            <a:off x="6868728" y="1440180"/>
            <a:ext cx="4276224" cy="3703320"/>
          </a:xfrm>
          <a:prstGeom prst="hexagon">
            <a:avLst/>
          </a:prstGeom>
          <a:solidFill>
            <a:schemeClr val="accent1">
              <a:alpha val="45000"/>
            </a:schemeClr>
          </a:solidFill>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p:spPr>
        <p:txBody>
          <a:bodyPr wrap="square" lIns="0" tIns="0" rIns="0" bIns="0" rtlCol="0" anchor="t"/>
          <a:lstStyle/>
          <a:p>
            <a:pPr marL="0" indent="0">
              <a:lnSpc>
                <a:spcPct val="90000"/>
              </a:lnSpc>
              <a:buNone/>
            </a:pPr>
            <a:r>
              <a:rPr lang="en-US" sz="5400" b="1" kern="0" spc="200" dirty="0">
                <a:solidFill>
                  <a:schemeClr val="bg1"/>
                </a:solidFill>
                <a:latin typeface="Cambria" panose="02040503050406030204" pitchFamily="34" charset="0"/>
                <a:ea typeface="Cambria" panose="02040503050406030204" pitchFamily="34" charset="-122"/>
                <a:cs typeface="Cambria" panose="02040503050406030204" pitchFamily="34" charset="-120"/>
              </a:rPr>
              <a:t>GENESIS</a:t>
            </a:r>
            <a:endParaRPr lang="en-US" sz="5400" dirty="0"/>
          </a:p>
          <a:p>
            <a:pPr marL="0" indent="0">
              <a:lnSpc>
                <a:spcPct val="90000"/>
              </a:lnSpc>
              <a:buNone/>
            </a:pPr>
            <a:r>
              <a:rPr lang="en-US" sz="5400" b="1" kern="0" spc="200" dirty="0">
                <a:solidFill>
                  <a:schemeClr val="accent3"/>
                </a:solidFill>
                <a:latin typeface="Cambria" panose="02040503050406030204" pitchFamily="34" charset="0"/>
                <a:ea typeface="Cambria" panose="02040503050406030204" pitchFamily="34" charset="-122"/>
                <a:cs typeface="Cambria" panose="02040503050406030204"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548640" y="3108960"/>
            <a:ext cx="5669280" cy="365760"/>
          </a:xfrm>
          <a:prstGeom prst="rect">
            <a:avLst/>
          </a:prstGeom>
          <a:noFill/>
        </p:spPr>
        <p:txBody>
          <a:bodyPr wrap="square" lIns="0" tIns="0" rIns="0" bIns="0" rtlCol="0" anchor="ctr"/>
          <a:lstStyle/>
          <a:p>
            <a:pPr marL="0" indent="0">
              <a:buNone/>
            </a:pPr>
            <a:endParaRPr lang="en-US" sz="1600" dirty="0"/>
          </a:p>
        </p:txBody>
      </p:sp>
      <p:sp>
        <p:nvSpPr>
          <p:cNvPr id="15" name="Cover Fields"/>
          <p:cNvSpPr txBox="1"/>
          <p:nvPr/>
        </p:nvSpPr>
        <p:spPr>
          <a:xfrm>
            <a:off x="548640" y="3703320"/>
            <a:ext cx="6035040" cy="2560320"/>
          </a:xfrm>
          <a:prstGeom prst="rect">
            <a:avLst/>
          </a:prstGeom>
          <a:noFill/>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–Spark Titans</a:t>
            </a:r>
            <a:endParaRPr lang="en-US" sz="1800" dirty="0"/>
          </a:p>
          <a:p>
            <a:pPr marL="279400" indent="-279400">
              <a:spcAft>
                <a:spcPts val="1400"/>
              </a:spcAft>
              <a:buClr>
                <a:schemeClr val="accent3"/>
              </a:buClr>
              <a:buSzPct val="100000"/>
              <a:buChar char="•"/>
            </a:pPr>
            <a:r>
              <a:rPr lang="en-US" sz="1800" dirty="0">
                <a:solidFill>
                  <a:schemeClr val="bg1"/>
                </a:solidFill>
              </a:rPr>
              <a:t>Team Members –Raja Raja Shree,Rithvik K,Deepak E R , </a:t>
            </a:r>
            <a:r>
              <a:rPr lang="en-IN" dirty="0" err="1">
                <a:solidFill>
                  <a:schemeClr val="bg1"/>
                </a:solidFill>
              </a:rPr>
              <a:t>Rubiga.RK</a:t>
            </a:r>
            <a:endParaRPr lang="en-US" sz="1800" dirty="0"/>
          </a:p>
          <a:p>
            <a:pPr marL="279400" indent="-279400">
              <a:spcAft>
                <a:spcPts val="1400"/>
              </a:spcAft>
              <a:buClr>
                <a:schemeClr val="accent3"/>
              </a:buClr>
              <a:buSzPct val="100000"/>
              <a:buChar char="•"/>
            </a:pPr>
            <a:r>
              <a:rPr lang="en-US" sz="1800" dirty="0">
                <a:solidFill>
                  <a:schemeClr val="bg1"/>
                </a:solidFill>
              </a:rPr>
              <a:t>Selected Domain – Food Security,Agriculture and Rural Transformation</a:t>
            </a:r>
            <a:endParaRPr lang="en-US" sz="1800" dirty="0"/>
          </a:p>
          <a:p>
            <a:pPr marL="279400" indent="-279400">
              <a:spcAft>
                <a:spcPts val="1400"/>
              </a:spcAft>
              <a:buClr>
                <a:schemeClr val="accent3"/>
              </a:buClr>
              <a:buSzPct val="100000"/>
              <a:buChar char="•"/>
            </a:pPr>
            <a:r>
              <a:rPr lang="en-US" sz="1800" dirty="0">
                <a:solidFill>
                  <a:schemeClr val="bg1"/>
                </a:solidFill>
              </a:rPr>
              <a:t>Problem Statement –</a:t>
            </a:r>
            <a:r>
              <a:rPr lang="en-US" altLang="en-US" sz="1800" dirty="0">
                <a:solidFill>
                  <a:schemeClr val="bg1"/>
                </a:solidFill>
              </a:rPr>
              <a:t>How we can help farmers detect common crop diseases early using affordable technology?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2999105" y="358775"/>
            <a:ext cx="7498080" cy="822960"/>
          </a:xfrm>
          <a:prstGeom prst="rect">
            <a:avLst/>
          </a:prstGeom>
          <a:noFill/>
        </p:spPr>
        <p:txBody>
          <a:bodyPr wrap="square" lIns="0" tIns="0" rIns="0" bIns="0" rtlCol="0" anchor="ct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p:spPr>
        <p:txBody>
          <a:bodyPr wrap="square" lIns="0" tIns="0" rIns="0" bIns="0" rtlCol="0" anchor="ctr">
            <a:normAutofit/>
          </a:bodyPr>
          <a:lstStyle/>
          <a:p>
            <a:pPr marL="0" indent="0">
              <a:buNone/>
            </a:pPr>
            <a:r>
              <a:rPr lang="en-US" sz="1200" b="1" kern="0" spc="300" dirty="0">
                <a:solidFill>
                  <a:schemeClr val="accent5"/>
                </a:solidFill>
              </a:rPr>
              <a:t>TEAM</a:t>
            </a:r>
            <a:endParaRPr lang="en-US" sz="1200" dirty="0"/>
          </a:p>
          <a:p>
            <a:pPr marL="0" indent="0">
              <a:buNone/>
            </a:pPr>
            <a:r>
              <a:rPr lang="en-US" sz="2000" dirty="0"/>
              <a:t>Spark Titans</a:t>
            </a:r>
          </a:p>
        </p:txBody>
      </p:sp>
      <p:sp>
        <p:nvSpPr>
          <p:cNvPr id="7" name="Lead Icon Hex"/>
          <p:cNvSpPr/>
          <p:nvPr/>
        </p:nvSpPr>
        <p:spPr>
          <a:xfrm>
            <a:off x="548640" y="1463040"/>
            <a:ext cx="457200" cy="395935"/>
          </a:xfrm>
          <a:prstGeom prst="hexagon">
            <a:avLst/>
          </a:prstGeom>
          <a:solidFill>
            <a:schemeClr val="accent3"/>
          </a:solidFill>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43127" y="1394460"/>
            <a:ext cx="9601200" cy="502920"/>
          </a:xfrm>
          <a:prstGeom prst="rect">
            <a:avLst/>
          </a:prstGeom>
          <a:noFill/>
        </p:spPr>
        <p:txBody>
          <a:bodyPr wrap="square" lIns="0" tIns="0" rIns="0" bIns="0" rtlCol="0" anchor="ctr"/>
          <a:lstStyle/>
          <a:p>
            <a:pPr marL="279400" indent="-279400">
              <a:spcAft>
                <a:spcPts val="1400"/>
              </a:spcAft>
              <a:buClr>
                <a:schemeClr val="accent3"/>
              </a:buClr>
              <a:buSzPct val="100000"/>
              <a:buChar char="•"/>
            </a:pPr>
            <a:r>
              <a:rPr lang="en-US" altLang="en-US" sz="2000" dirty="0">
                <a:solidFill>
                  <a:schemeClr val="tx1"/>
                </a:solidFill>
                <a:sym typeface="+mn-ea"/>
              </a:rPr>
              <a:t>How we can help farmers detect common crop diseases early using affordable technology?</a:t>
            </a:r>
          </a:p>
        </p:txBody>
      </p:sp>
      <p:sp>
        <p:nvSpPr>
          <p:cNvPr id="10" name="Prompts"/>
          <p:cNvSpPr txBox="1"/>
          <p:nvPr/>
        </p:nvSpPr>
        <p:spPr>
          <a:xfrm>
            <a:off x="868680" y="2148840"/>
            <a:ext cx="10424160" cy="1188720"/>
          </a:xfrm>
          <a:prstGeom prst="rect">
            <a:avLst/>
          </a:prstGeom>
          <a:noFill/>
        </p:spPr>
        <p:txBody>
          <a:bodyPr wrap="square" lIns="0" tIns="0" rIns="0" bIns="0" rtlCol="0" anchor="t"/>
          <a:lstStyle/>
          <a:p>
            <a:pPr indent="0">
              <a:spcAft>
                <a:spcPts val="1000"/>
              </a:spcAft>
              <a:buClr>
                <a:schemeClr val="accent1"/>
              </a:buClr>
              <a:buSzPct val="100000"/>
              <a:buNone/>
            </a:pPr>
            <a:r>
              <a:rPr lang="en-US" sz="1800" dirty="0">
                <a:solidFill>
                  <a:schemeClr val="tx1"/>
                </a:solidFill>
              </a:rPr>
              <a:t>1.What exactly needs to be solved?</a:t>
            </a:r>
          </a:p>
          <a:p>
            <a:pPr indent="0">
              <a:spcAft>
                <a:spcPts val="1000"/>
              </a:spcAft>
              <a:buClr>
                <a:schemeClr val="accent1"/>
              </a:buClr>
              <a:buSzPct val="100000"/>
              <a:buNone/>
            </a:pPr>
            <a:r>
              <a:rPr lang="en-US" altLang="en-US" sz="1800" dirty="0">
                <a:solidFill>
                  <a:schemeClr val="tx1"/>
                </a:solidFill>
              </a:rPr>
              <a:t>Farmers often cannot identify crop diseases at an early stage. Early symptoms such as small spots, discoloration, or changes in leaves can be difficult to recognize without agricultural expertise.</a:t>
            </a:r>
            <a:r>
              <a:rPr lang="en-US" sz="1800" dirty="0">
                <a:solidFill>
                  <a:schemeClr val="tx1"/>
                </a:solidFill>
              </a:rPr>
              <a:t> </a:t>
            </a:r>
          </a:p>
          <a:p>
            <a:pPr indent="0">
              <a:spcAft>
                <a:spcPts val="1000"/>
              </a:spcAft>
              <a:buClr>
                <a:schemeClr val="accent1"/>
              </a:buClr>
              <a:buSzPct val="100000"/>
              <a:buNone/>
            </a:pPr>
            <a:endParaRPr lang="en-US" sz="1800" dirty="0"/>
          </a:p>
          <a:p>
            <a:pPr indent="0">
              <a:spcAft>
                <a:spcPts val="1000"/>
              </a:spcAft>
              <a:buClr>
                <a:schemeClr val="accent1"/>
              </a:buClr>
              <a:buSzPct val="100000"/>
              <a:buNone/>
            </a:pPr>
            <a:r>
              <a:rPr lang="en-US" sz="1800" dirty="0">
                <a:solidFill>
                  <a:schemeClr val="tx1"/>
                </a:solidFill>
              </a:rPr>
              <a:t>2.Why is it important right now?</a:t>
            </a:r>
          </a:p>
          <a:p>
            <a:pPr indent="0">
              <a:spcAft>
                <a:spcPts val="1000"/>
              </a:spcAft>
              <a:buClr>
                <a:schemeClr val="accent1"/>
              </a:buClr>
              <a:buSzPct val="100000"/>
              <a:buNone/>
            </a:pPr>
            <a:r>
              <a:rPr lang="en-US" altLang="en-US" sz="1800" dirty="0">
                <a:solidFill>
                  <a:schemeClr val="tx1"/>
                </a:solidFill>
              </a:rPr>
              <a:t>This issue is growing increasingly important because farmers are under greater and greater stress due to changing weather patterns, rising costs, and crop loss.</a:t>
            </a:r>
          </a:p>
        </p:txBody>
      </p:sp>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086100" y="365760"/>
            <a:ext cx="6821805" cy="822960"/>
          </a:xfrm>
          <a:prstGeom prst="rect">
            <a:avLst/>
          </a:prstGeom>
          <a:noFill/>
        </p:spPr>
        <p:txBody>
          <a:bodyPr wrap="square" lIns="0" tIns="0" rIns="0" bIns="0" rtlCol="0" anchor="ct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868680" y="2148840"/>
            <a:ext cx="10424160" cy="1645920"/>
          </a:xfrm>
          <a:prstGeom prst="rect">
            <a:avLst/>
          </a:prstGeom>
          <a:noFill/>
        </p:spPr>
        <p:txBody>
          <a:bodyPr wrap="square" lIns="0" tIns="0" rIns="0" bIns="0" rtlCol="0" anchor="t"/>
          <a:lstStyle/>
          <a:p>
            <a:pPr indent="0">
              <a:spcAft>
                <a:spcPts val="1000"/>
              </a:spcAft>
              <a:buClr>
                <a:schemeClr val="accent1"/>
              </a:buClr>
              <a:buSzPct val="100000"/>
              <a:buNone/>
            </a:pPr>
            <a:r>
              <a:rPr lang="en-US" sz="1800" dirty="0">
                <a:solidFill>
                  <a:schemeClr val="tx1"/>
                </a:solidFill>
              </a:rPr>
              <a:t>1. Primary users / target group?</a:t>
            </a:r>
          </a:p>
          <a:p>
            <a:pPr indent="0">
              <a:spcAft>
                <a:spcPts val="1000"/>
              </a:spcAft>
              <a:buClr>
                <a:schemeClr val="accent1"/>
              </a:buClr>
              <a:buSzPct val="100000"/>
              <a:buNone/>
            </a:pPr>
            <a:r>
              <a:rPr lang="en-US" altLang="en-US" sz="1800" dirty="0">
                <a:solidFill>
                  <a:schemeClr val="tx1"/>
                </a:solidFill>
              </a:rPr>
              <a:t>Small farmers who need an affordable and easy way to identify crop diseases.</a:t>
            </a:r>
          </a:p>
          <a:p>
            <a:pPr indent="0">
              <a:spcAft>
                <a:spcPts val="1000"/>
              </a:spcAft>
              <a:buClr>
                <a:schemeClr val="accent1"/>
              </a:buClr>
              <a:buSzPct val="100000"/>
              <a:buNone/>
            </a:pPr>
            <a:r>
              <a:rPr lang="en-US" altLang="en-US" sz="1800" dirty="0">
                <a:solidFill>
                  <a:schemeClr val="tx1"/>
                </a:solidFill>
              </a:rPr>
              <a:t>2.</a:t>
            </a:r>
            <a:r>
              <a:rPr lang="en-US" sz="1800" dirty="0">
                <a:solidFill>
                  <a:schemeClr val="tx1"/>
                </a:solidFill>
              </a:rPr>
              <a:t>Secondary stakeholders?</a:t>
            </a:r>
          </a:p>
          <a:p>
            <a:pPr indent="0">
              <a:spcAft>
                <a:spcPts val="1000"/>
              </a:spcAft>
              <a:buClr>
                <a:schemeClr val="accent1"/>
              </a:buClr>
              <a:buSzPct val="100000"/>
              <a:buNone/>
            </a:pPr>
            <a:r>
              <a:rPr lang="en-US" altLang="en-US" sz="1800" dirty="0">
                <a:solidFill>
                  <a:schemeClr val="tx1"/>
                </a:solidFill>
              </a:rPr>
              <a:t>Agricultural experts, farmer groups, agricultural colleges, and rural communities.</a:t>
            </a:r>
          </a:p>
          <a:p>
            <a:pPr indent="0">
              <a:spcAft>
                <a:spcPts val="1000"/>
              </a:spcAft>
              <a:buClr>
                <a:schemeClr val="accent1"/>
              </a:buClr>
              <a:buSzPct val="100000"/>
              <a:buNone/>
            </a:pPr>
            <a:r>
              <a:rPr lang="en-US" sz="1800" dirty="0">
                <a:solidFill>
                  <a:schemeClr val="tx1"/>
                </a:solidFill>
              </a:rPr>
              <a:t>3.Who benefits if the problem is solved?</a:t>
            </a:r>
          </a:p>
          <a:p>
            <a:pPr indent="0">
              <a:spcAft>
                <a:spcPts val="1000"/>
              </a:spcAft>
              <a:buClr>
                <a:schemeClr val="accent1"/>
              </a:buClr>
              <a:buSzPct val="100000"/>
              <a:buNone/>
            </a:pPr>
            <a:r>
              <a:rPr lang="en-US" altLang="en-US" sz="1800" dirty="0">
                <a:solidFill>
                  <a:schemeClr val="tx1"/>
                </a:solidFill>
              </a:rPr>
              <a:t>Farmers can detect diseases early, protect their crops, and reduce losses. This helps them save money, maintain a stable income, and use pesticides more wisely while ensuring a better food supply for everyone.</a:t>
            </a:r>
          </a:p>
        </p:txBody>
      </p:sp>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t>3</a:t>
            </a:fld>
            <a:endParaRPr lang="en-US"/>
          </a:p>
        </p:txBody>
      </p:sp>
      <p:sp>
        <p:nvSpPr>
          <p:cNvPr id="12" name="Team Name"/>
          <p:cNvSpPr txBox="1"/>
          <p:nvPr/>
        </p:nvSpPr>
        <p:spPr>
          <a:xfrm>
            <a:off x="1371600" y="384048"/>
            <a:ext cx="1627632" cy="694944"/>
          </a:xfrm>
          <a:prstGeom prst="rect">
            <a:avLst/>
          </a:prstGeom>
          <a:noFill/>
        </p:spPr>
        <p:txBody>
          <a:bodyPr wrap="square" lIns="0" tIns="0" rIns="0" bIns="0" rtlCol="0" anchor="ctr">
            <a:normAutofit/>
          </a:bodyPr>
          <a:lstStyle/>
          <a:p>
            <a:pPr marL="0" indent="0">
              <a:buNone/>
            </a:pPr>
            <a:r>
              <a:rPr lang="en-US" sz="1200" b="1" kern="0" spc="300" dirty="0">
                <a:solidFill>
                  <a:schemeClr val="accent5"/>
                </a:solidFill>
              </a:rPr>
              <a:t>TEAM</a:t>
            </a:r>
            <a:endParaRPr lang="en-US" sz="1200" dirty="0"/>
          </a:p>
          <a:p>
            <a:pPr marL="0" indent="0">
              <a:buNone/>
            </a:pPr>
            <a:r>
              <a:rPr lang="en-US" sz="2000" dirty="0"/>
              <a:t>Spark Titans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p:spPr>
        <p:txBody>
          <a:bodyPr wrap="square" lIns="0" tIns="0" rIns="0" bIns="0" rtlCol="0" anchor="ct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868680" y="2148840"/>
            <a:ext cx="10903585" cy="2950210"/>
          </a:xfrm>
          <a:prstGeom prst="rect">
            <a:avLst/>
          </a:prstGeom>
          <a:noFill/>
        </p:spPr>
        <p:txBody>
          <a:bodyPr wrap="square" lIns="0" tIns="0" rIns="0" bIns="0" rtlCol="0" anchor="t"/>
          <a:lstStyle/>
          <a:p>
            <a:pPr indent="0">
              <a:spcAft>
                <a:spcPts val="1000"/>
              </a:spcAft>
              <a:buClr>
                <a:schemeClr val="accent1"/>
              </a:buClr>
              <a:buSzPct val="100000"/>
              <a:buNone/>
            </a:pPr>
            <a:r>
              <a:rPr lang="en-US" sz="1800" dirty="0">
                <a:solidFill>
                  <a:schemeClr val="tx1"/>
                </a:solidFill>
              </a:rPr>
              <a:t>1.Existing scenario and background</a:t>
            </a:r>
          </a:p>
          <a:p>
            <a:pPr indent="0">
              <a:spcAft>
                <a:spcPts val="1000"/>
              </a:spcAft>
              <a:buClr>
                <a:schemeClr val="accent1"/>
              </a:buClr>
              <a:buSzPct val="100000"/>
              <a:buNone/>
            </a:pPr>
            <a:r>
              <a:rPr lang="en-US" altLang="en-US" sz="1800" dirty="0">
                <a:solidFill>
                  <a:schemeClr val="tx1"/>
                </a:solidFill>
              </a:rPr>
              <a:t>Crop diseases are a major challenge to agricultural productivity, farmers' livelihoods and food security.</a:t>
            </a:r>
          </a:p>
          <a:p>
            <a:pPr indent="0">
              <a:spcAft>
                <a:spcPts val="1000"/>
              </a:spcAft>
              <a:buClr>
                <a:schemeClr val="accent1"/>
              </a:buClr>
              <a:buSzPct val="100000"/>
              <a:buNone/>
            </a:pPr>
            <a:r>
              <a:rPr lang="en-US" sz="1800" dirty="0">
                <a:solidFill>
                  <a:schemeClr val="tx1"/>
                </a:solidFill>
              </a:rPr>
              <a:t>2.Relevant data or facts (if available)</a:t>
            </a:r>
          </a:p>
          <a:p>
            <a:pPr indent="0">
              <a:spcAft>
                <a:spcPts val="1000"/>
              </a:spcAft>
              <a:buClr>
                <a:schemeClr val="accent1"/>
              </a:buClr>
              <a:buSzPct val="100000"/>
              <a:buNone/>
            </a:pPr>
            <a:r>
              <a:rPr lang="en-US" altLang="en-US" dirty="0">
                <a:sym typeface="+mn-ea"/>
              </a:rPr>
              <a:t>The Food and Agriculture Organization (FAO) estimates that plant pests and diseases account for approximately 20–40% of global crop-yield losses annually</a:t>
            </a:r>
            <a:endParaRPr lang="en-US" altLang="en-US" dirty="0">
              <a:solidFill>
                <a:schemeClr val="tx1"/>
              </a:solidFill>
            </a:endParaRPr>
          </a:p>
          <a:p>
            <a:pPr indent="0">
              <a:spcAft>
                <a:spcPts val="1000"/>
              </a:spcAft>
              <a:buClr>
                <a:schemeClr val="accent1"/>
              </a:buClr>
              <a:buSzPct val="100000"/>
              <a:buNone/>
            </a:pPr>
            <a:r>
              <a:rPr lang="en-US" sz="1800" dirty="0">
                <a:solidFill>
                  <a:schemeClr val="tx1"/>
                </a:solidFill>
              </a:rPr>
              <a:t>3.Current workflow, step by step</a:t>
            </a:r>
          </a:p>
          <a:p>
            <a:pPr indent="0">
              <a:spcAft>
                <a:spcPts val="1000"/>
              </a:spcAft>
              <a:buClr>
                <a:schemeClr val="accent1"/>
              </a:buClr>
              <a:buSzPct val="100000"/>
              <a:buNone/>
            </a:pPr>
            <a:r>
              <a:rPr lang="en-US" altLang="en-US" sz="1800" dirty="0">
                <a:solidFill>
                  <a:schemeClr val="tx1"/>
                </a:solidFill>
              </a:rPr>
              <a:t>Farmers currently rely on visual inspection, personal experience, advice from other farmers, agricultural experts and digital tools to identify crop diseases.</a:t>
            </a:r>
          </a:p>
        </p:txBody>
      </p:sp>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t>4</a:t>
            </a:fld>
            <a:endParaRPr lang="en-US"/>
          </a:p>
        </p:txBody>
      </p:sp>
      <p:sp>
        <p:nvSpPr>
          <p:cNvPr id="13" name="Team Name"/>
          <p:cNvSpPr txBox="1"/>
          <p:nvPr/>
        </p:nvSpPr>
        <p:spPr>
          <a:xfrm>
            <a:off x="1371600" y="384048"/>
            <a:ext cx="1627632" cy="694944"/>
          </a:xfrm>
          <a:prstGeom prst="rect">
            <a:avLst/>
          </a:prstGeom>
          <a:noFill/>
        </p:spPr>
        <p:txBody>
          <a:bodyPr wrap="square" lIns="0" tIns="0" rIns="0" bIns="0" rtlCol="0" anchor="ctr">
            <a:normAutofit/>
          </a:bodyPr>
          <a:lstStyle/>
          <a:p>
            <a:pPr marL="0" indent="0">
              <a:buNone/>
            </a:pPr>
            <a:r>
              <a:rPr lang="en-US" sz="1200" b="1" kern="0" spc="300" dirty="0">
                <a:solidFill>
                  <a:schemeClr val="accent5"/>
                </a:solidFill>
              </a:rPr>
              <a:t>TEAM</a:t>
            </a:r>
            <a:endParaRPr lang="en-US" sz="1200" dirty="0"/>
          </a:p>
          <a:p>
            <a:pPr marL="0" indent="0">
              <a:buNone/>
            </a:pPr>
            <a:r>
              <a:rPr lang="en-US" sz="2000" dirty="0"/>
              <a:t>Spark Titans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p:spPr>
        <p:txBody>
          <a:bodyPr wrap="square" lIns="0" tIns="0" rIns="0" bIns="0" rtlCol="0" anchor="ct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868680" y="2148840"/>
            <a:ext cx="10424160" cy="1645920"/>
          </a:xfrm>
          <a:prstGeom prst="rect">
            <a:avLst/>
          </a:prstGeom>
          <a:noFill/>
        </p:spPr>
        <p:txBody>
          <a:bodyPr wrap="square" lIns="0" tIns="0" rIns="0" bIns="0" rtlCol="0" anchor="t"/>
          <a:lstStyle/>
          <a:p>
            <a:pPr indent="0">
              <a:spcAft>
                <a:spcPts val="1000"/>
              </a:spcAft>
              <a:buClr>
                <a:schemeClr val="accent1"/>
              </a:buClr>
              <a:buSzPct val="100000"/>
              <a:buNone/>
            </a:pPr>
            <a:r>
              <a:rPr lang="en-US" sz="1800" dirty="0">
                <a:solidFill>
                  <a:schemeClr val="tx1"/>
                </a:solidFill>
              </a:rPr>
              <a:t>1.Main difficulties and bottlenecks</a:t>
            </a:r>
          </a:p>
          <a:p>
            <a:pPr indent="0">
              <a:spcAft>
                <a:spcPts val="1000"/>
              </a:spcAft>
              <a:buClr>
                <a:schemeClr val="accent1"/>
              </a:buClr>
              <a:buSzPct val="100000"/>
              <a:buNone/>
            </a:pPr>
            <a:r>
              <a:rPr lang="en-US" altLang="en-US" sz="1800" dirty="0">
                <a:solidFill>
                  <a:schemeClr val="tx1"/>
                </a:solidFill>
              </a:rPr>
              <a:t>Farmers often struggle to identify crop diseases early. Agricultural experts may not be easily accessible in every village, and detection tools can be costly or complicated to use. Similar diseases can be difficult to distinguish, while poor internet connectivity and limited digital skills create additional challenges.</a:t>
            </a:r>
          </a:p>
          <a:p>
            <a:pPr indent="0">
              <a:spcAft>
                <a:spcPts val="1000"/>
              </a:spcAft>
              <a:buClr>
                <a:schemeClr val="accent1"/>
              </a:buClr>
              <a:buSzPct val="100000"/>
              <a:buNone/>
            </a:pPr>
            <a:r>
              <a:rPr lang="en-US" sz="1800" dirty="0">
                <a:solidFill>
                  <a:schemeClr val="tx1"/>
                </a:solidFill>
              </a:rPr>
              <a:t>2.Root causes behind them</a:t>
            </a:r>
          </a:p>
          <a:p>
            <a:pPr indent="0">
              <a:spcAft>
                <a:spcPts val="1000"/>
              </a:spcAft>
              <a:buClr>
                <a:schemeClr val="accent1"/>
              </a:buClr>
              <a:buSzPct val="100000"/>
              <a:buNone/>
            </a:pPr>
            <a:r>
              <a:rPr lang="en-US" altLang="en-US" sz="1800" dirty="0">
                <a:solidFill>
                  <a:schemeClr val="tx1"/>
                </a:solidFill>
              </a:rPr>
              <a:t>Limited expert support, high technology costs, low awareness, and similar disease symptoms.</a:t>
            </a:r>
          </a:p>
          <a:p>
            <a:pPr indent="0">
              <a:spcAft>
                <a:spcPts val="1000"/>
              </a:spcAft>
              <a:buClr>
                <a:schemeClr val="accent1"/>
              </a:buClr>
              <a:buSzPct val="100000"/>
              <a:buNone/>
            </a:pPr>
            <a:r>
              <a:rPr lang="en-US" sz="1800" dirty="0">
                <a:solidFill>
                  <a:schemeClr val="tx1"/>
                </a:solidFill>
              </a:rPr>
              <a:t>3.Consequences of leaving them unsolved</a:t>
            </a:r>
          </a:p>
          <a:p>
            <a:pPr indent="0">
              <a:spcAft>
                <a:spcPts val="1000"/>
              </a:spcAft>
              <a:buClr>
                <a:schemeClr val="accent1"/>
              </a:buClr>
              <a:buSzPct val="100000"/>
              <a:buNone/>
            </a:pPr>
            <a:r>
              <a:rPr lang="en-US" altLang="en-US" sz="1800" dirty="0">
                <a:solidFill>
                  <a:schemeClr val="tx1"/>
                </a:solidFill>
              </a:rPr>
              <a:t>Late detection can cause crop losses, higher expenses, reduced income, and unnecessary pesticide use.</a:t>
            </a:r>
          </a:p>
        </p:txBody>
      </p:sp>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t>5</a:t>
            </a:fld>
            <a:endParaRPr lang="en-US"/>
          </a:p>
        </p:txBody>
      </p:sp>
      <p:sp>
        <p:nvSpPr>
          <p:cNvPr id="12" name="Team Name"/>
          <p:cNvSpPr txBox="1"/>
          <p:nvPr/>
        </p:nvSpPr>
        <p:spPr>
          <a:xfrm>
            <a:off x="1371600" y="384048"/>
            <a:ext cx="1627632" cy="694944"/>
          </a:xfrm>
          <a:prstGeom prst="rect">
            <a:avLst/>
          </a:prstGeom>
          <a:noFill/>
        </p:spPr>
        <p:txBody>
          <a:bodyPr wrap="square" lIns="0" tIns="0" rIns="0" bIns="0" rtlCol="0" anchor="ctr">
            <a:normAutofit/>
          </a:bodyPr>
          <a:lstStyle/>
          <a:p>
            <a:pPr marL="0" indent="0">
              <a:buNone/>
            </a:pPr>
            <a:r>
              <a:rPr lang="en-US" sz="1200" b="1" kern="0" spc="300" dirty="0">
                <a:solidFill>
                  <a:schemeClr val="accent5"/>
                </a:solidFill>
              </a:rPr>
              <a:t>TEAM</a:t>
            </a:r>
            <a:endParaRPr lang="en-US" sz="1200" dirty="0"/>
          </a:p>
          <a:p>
            <a:pPr marL="0" indent="0">
              <a:buNone/>
            </a:pPr>
            <a:r>
              <a:rPr lang="en-US" sz="2000" dirty="0"/>
              <a:t>Spark Titans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p:spPr>
        <p:txBody>
          <a:bodyPr wrap="square" lIns="0" tIns="0" rIns="0" bIns="0" rtlCol="0" anchor="ct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868680" y="2148840"/>
            <a:ext cx="10424160" cy="1645920"/>
          </a:xfrm>
          <a:prstGeom prst="rect">
            <a:avLst/>
          </a:prstGeom>
          <a:noFill/>
        </p:spPr>
        <p:txBody>
          <a:bodyPr wrap="square" lIns="0" tIns="0" rIns="0" bIns="0" rtlCol="0" anchor="t"/>
          <a:lstStyle/>
          <a:p>
            <a:pPr indent="0">
              <a:spcAft>
                <a:spcPts val="1000"/>
              </a:spcAft>
              <a:buClr>
                <a:schemeClr val="accent1"/>
              </a:buClr>
              <a:buSzPct val="100000"/>
              <a:buNone/>
            </a:pPr>
            <a:r>
              <a:rPr lang="en-US" sz="1800" dirty="0">
                <a:solidFill>
                  <a:schemeClr val="tx1"/>
                </a:solidFill>
              </a:rPr>
              <a:t>1.Existing methods, systems or alternatives</a:t>
            </a:r>
          </a:p>
          <a:p>
            <a:pPr indent="0">
              <a:spcAft>
                <a:spcPts val="1000"/>
              </a:spcAft>
              <a:buClr>
                <a:schemeClr val="accent1"/>
              </a:buClr>
              <a:buSzPct val="100000"/>
              <a:buNone/>
            </a:pPr>
            <a:r>
              <a:rPr lang="en-US" altLang="en-US" sz="1800" dirty="0">
                <a:solidFill>
                  <a:schemeClr val="tx1"/>
                </a:solidFill>
              </a:rPr>
              <a:t>Farmers identify crop diseases through manual inspection, agricultural experts, online searches and AI-based mobile applications.</a:t>
            </a:r>
          </a:p>
          <a:p>
            <a:pPr indent="0">
              <a:spcAft>
                <a:spcPts val="1000"/>
              </a:spcAft>
              <a:buClr>
                <a:schemeClr val="accent1"/>
              </a:buClr>
              <a:buSzPct val="100000"/>
              <a:buNone/>
            </a:pPr>
            <a:r>
              <a:rPr lang="en-US" sz="1800" dirty="0">
                <a:solidFill>
                  <a:schemeClr val="tx1"/>
                </a:solidFill>
              </a:rPr>
              <a:t>2.Limitations of each</a:t>
            </a:r>
          </a:p>
          <a:p>
            <a:pPr indent="0">
              <a:spcAft>
                <a:spcPts val="1000"/>
              </a:spcAft>
              <a:buClr>
                <a:schemeClr val="accent1"/>
              </a:buClr>
              <a:buSzPct val="100000"/>
              <a:buNone/>
            </a:pPr>
            <a:r>
              <a:rPr lang="en-US" altLang="en-US" sz="1800" dirty="0">
                <a:solidFill>
                  <a:schemeClr val="tx1"/>
                </a:solidFill>
              </a:rPr>
              <a:t>Manual inspection may miss early symptoms, experts may not always be available, and some apps require internet access or technical knowledge. </a:t>
            </a:r>
          </a:p>
          <a:p>
            <a:pPr indent="0">
              <a:spcAft>
                <a:spcPts val="1000"/>
              </a:spcAft>
              <a:buClr>
                <a:schemeClr val="accent1"/>
              </a:buClr>
              <a:buSzPct val="100000"/>
              <a:buNone/>
            </a:pPr>
            <a:r>
              <a:rPr lang="en-US" sz="1800" dirty="0">
                <a:solidFill>
                  <a:schemeClr val="tx1"/>
                </a:solidFill>
              </a:rPr>
              <a:t>3.The gap they leave open (Key Challenges)</a:t>
            </a:r>
          </a:p>
          <a:p>
            <a:pPr indent="0">
              <a:spcAft>
                <a:spcPts val="1000"/>
              </a:spcAft>
              <a:buClr>
                <a:schemeClr val="accent1"/>
              </a:buClr>
              <a:buSzPct val="100000"/>
              <a:buNone/>
            </a:pPr>
            <a:r>
              <a:rPr lang="en-US" altLang="en-US" sz="1800" dirty="0">
                <a:solidFill>
                  <a:schemeClr val="tx1"/>
                </a:solidFill>
              </a:rPr>
              <a:t>We aim to develop an affordable, user-friendly tool that detects possible crop diseases from leaf photos and provides simple guidance to farmers.</a:t>
            </a:r>
          </a:p>
        </p:txBody>
      </p:sp>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t>6</a:t>
            </a:fld>
            <a:endParaRPr lang="en-US"/>
          </a:p>
        </p:txBody>
      </p:sp>
      <p:sp>
        <p:nvSpPr>
          <p:cNvPr id="12" name="Team Name"/>
          <p:cNvSpPr txBox="1"/>
          <p:nvPr/>
        </p:nvSpPr>
        <p:spPr>
          <a:xfrm>
            <a:off x="1371600" y="384048"/>
            <a:ext cx="1627632" cy="694944"/>
          </a:xfrm>
          <a:prstGeom prst="rect">
            <a:avLst/>
          </a:prstGeom>
          <a:noFill/>
        </p:spPr>
        <p:txBody>
          <a:bodyPr wrap="square" lIns="0" tIns="0" rIns="0" bIns="0" rtlCol="0" anchor="ctr">
            <a:normAutofit/>
          </a:bodyPr>
          <a:lstStyle/>
          <a:p>
            <a:pPr marL="0" indent="0">
              <a:buNone/>
            </a:pPr>
            <a:r>
              <a:rPr lang="en-US" sz="1200" b="1" kern="0" spc="300" dirty="0">
                <a:solidFill>
                  <a:schemeClr val="accent5"/>
                </a:solidFill>
              </a:rPr>
              <a:t>TEAM</a:t>
            </a:r>
            <a:endParaRPr lang="en-US" sz="1200" dirty="0"/>
          </a:p>
          <a:p>
            <a:pPr marL="0" indent="0">
              <a:buNone/>
            </a:pPr>
            <a:r>
              <a:rPr lang="en-US" sz="2000" dirty="0"/>
              <a:t>Spark Titans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p:spPr>
        <p:txBody>
          <a:bodyPr wrap="square" lIns="0" tIns="0" rIns="0" bIns="0" rtlCol="0" anchor="ct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835025" y="1859280"/>
            <a:ext cx="10424160" cy="1645920"/>
          </a:xfrm>
          <a:prstGeom prst="rect">
            <a:avLst/>
          </a:prstGeom>
          <a:noFill/>
        </p:spPr>
        <p:txBody>
          <a:bodyPr wrap="square" lIns="0" tIns="0" rIns="0" bIns="0" rtlCol="0" anchor="t"/>
          <a:lstStyle/>
          <a:p>
            <a:pPr indent="0">
              <a:spcAft>
                <a:spcPts val="1000"/>
              </a:spcAft>
              <a:buClr>
                <a:schemeClr val="accent1"/>
              </a:buClr>
              <a:buSzPct val="100000"/>
              <a:buNone/>
            </a:pPr>
            <a:endParaRPr lang="en-US" sz="1800" dirty="0">
              <a:solidFill>
                <a:schemeClr val="tx1"/>
              </a:solidFill>
            </a:endParaRPr>
          </a:p>
          <a:p>
            <a:pPr indent="0">
              <a:spcAft>
                <a:spcPts val="1000"/>
              </a:spcAft>
              <a:buClr>
                <a:schemeClr val="accent1"/>
              </a:buClr>
              <a:buSzPct val="100000"/>
              <a:buNone/>
            </a:pPr>
            <a:r>
              <a:rPr lang="en-US" sz="1800" dirty="0">
                <a:solidFill>
                  <a:schemeClr val="tx1"/>
                </a:solidFill>
              </a:rPr>
              <a:t>1.Hardware Requirements</a:t>
            </a:r>
          </a:p>
          <a:p>
            <a:pPr indent="0">
              <a:spcAft>
                <a:spcPts val="1000"/>
              </a:spcAft>
              <a:buClr>
                <a:schemeClr val="accent1"/>
              </a:buClr>
              <a:buSzPct val="100000"/>
              <a:buNone/>
            </a:pPr>
            <a:r>
              <a:rPr lang="en-US" altLang="en-US" sz="1800" dirty="0">
                <a:solidFill>
                  <a:schemeClr val="tx1"/>
                </a:solidFill>
              </a:rPr>
              <a:t>We need a smartphone or laptop to develop and test the project, a camera to capture crop images, and internet access if required.</a:t>
            </a:r>
          </a:p>
          <a:p>
            <a:pPr indent="0">
              <a:spcAft>
                <a:spcPts val="1000"/>
              </a:spcAft>
              <a:buClr>
                <a:schemeClr val="accent1"/>
              </a:buClr>
              <a:buSzPct val="100000"/>
              <a:buNone/>
            </a:pPr>
            <a:r>
              <a:rPr lang="en-US" sz="1800" dirty="0">
                <a:solidFill>
                  <a:schemeClr val="tx1"/>
                </a:solidFill>
              </a:rPr>
              <a:t>2.Software Requirements</a:t>
            </a:r>
          </a:p>
          <a:p>
            <a:pPr indent="0">
              <a:spcAft>
                <a:spcPts val="1000"/>
              </a:spcAft>
              <a:buClr>
                <a:schemeClr val="accent1"/>
              </a:buClr>
              <a:buSzPct val="100000"/>
              <a:buNone/>
            </a:pPr>
            <a:r>
              <a:rPr lang="en-US" altLang="en-US" sz="1800" dirty="0">
                <a:solidFill>
                  <a:schemeClr val="tx1"/>
                </a:solidFill>
              </a:rPr>
              <a:t>Python to develop the We will use Python, a pre-trained AI model, crop disease image datasets and Streamlit to build a simple interface for detecting possible crop diseases.</a:t>
            </a:r>
          </a:p>
          <a:p>
            <a:pPr indent="0">
              <a:spcAft>
                <a:spcPts val="1000"/>
              </a:spcAft>
              <a:buClr>
                <a:schemeClr val="accent1"/>
              </a:buClr>
              <a:buSzPct val="100000"/>
              <a:buNone/>
            </a:pPr>
            <a:r>
              <a:rPr lang="en-US" altLang="en-US" sz="1800" dirty="0">
                <a:solidFill>
                  <a:schemeClr val="tx1"/>
                </a:solidFill>
              </a:rPr>
              <a:t>A basic database or reference guide containing disease symptoms and recommended next steps.</a:t>
            </a:r>
          </a:p>
          <a:p>
            <a:pPr indent="0">
              <a:spcAft>
                <a:spcPts val="1000"/>
              </a:spcAft>
              <a:buClr>
                <a:schemeClr val="accent1"/>
              </a:buClr>
              <a:buSzPct val="100000"/>
              <a:buNone/>
            </a:pPr>
            <a:r>
              <a:rPr lang="en-US" sz="1800" dirty="0">
                <a:solidFill>
                  <a:schemeClr val="tx1"/>
                </a:solidFill>
              </a:rPr>
              <a:t>3.Other resources (Including Human Resources)</a:t>
            </a:r>
          </a:p>
          <a:p>
            <a:pPr indent="0">
              <a:spcAft>
                <a:spcPts val="1000"/>
              </a:spcAft>
              <a:buClr>
                <a:schemeClr val="accent1"/>
              </a:buClr>
              <a:buSzPct val="100000"/>
              <a:buNone/>
            </a:pPr>
            <a:r>
              <a:rPr lang="en-US" altLang="en-US" sz="1800" dirty="0">
                <a:solidFill>
                  <a:schemeClr val="tx1"/>
                </a:solidFill>
              </a:rPr>
              <a:t>We need reliable crop images, information from agricultural experts, and team members to handle coding, research, design and testing.</a:t>
            </a:r>
          </a:p>
        </p:txBody>
      </p:sp>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t>7</a:t>
            </a:fld>
            <a:endParaRPr lang="en-US"/>
          </a:p>
        </p:txBody>
      </p:sp>
      <p:sp>
        <p:nvSpPr>
          <p:cNvPr id="12" name="Team Name"/>
          <p:cNvSpPr txBox="1"/>
          <p:nvPr/>
        </p:nvSpPr>
        <p:spPr>
          <a:xfrm>
            <a:off x="1371600" y="384048"/>
            <a:ext cx="1627632" cy="694944"/>
          </a:xfrm>
          <a:prstGeom prst="rect">
            <a:avLst/>
          </a:prstGeom>
          <a:noFill/>
        </p:spPr>
        <p:txBody>
          <a:bodyPr wrap="square" lIns="0" tIns="0" rIns="0" bIns="0" rtlCol="0" anchor="ctr">
            <a:normAutofit/>
          </a:bodyPr>
          <a:lstStyle/>
          <a:p>
            <a:pPr marL="0" indent="0">
              <a:buNone/>
            </a:pPr>
            <a:r>
              <a:rPr lang="en-US" sz="1200" b="1" kern="0" spc="300" dirty="0">
                <a:solidFill>
                  <a:schemeClr val="accent5"/>
                </a:solidFill>
              </a:rPr>
              <a:t>TEAM</a:t>
            </a:r>
            <a:endParaRPr lang="en-US" sz="1200" dirty="0"/>
          </a:p>
          <a:p>
            <a:pPr marL="0" indent="0">
              <a:buNone/>
            </a:pPr>
            <a:r>
              <a:rPr lang="en-US" sz="2000" dirty="0"/>
              <a:t>Spark Titans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p:spPr>
        <p:txBody>
          <a:bodyPr wrap="square" lIns="0" tIns="0" rIns="0" bIns="0" rtlCol="0" anchor="ctr"/>
          <a:lstStyle/>
          <a:p>
            <a:pPr marL="0" indent="0" algn="ctr">
              <a:buNone/>
            </a:pPr>
            <a:r>
              <a:rPr lang="en-US" sz="2400" b="1" kern="0" spc="100" dirty="0">
                <a:solidFill>
                  <a:schemeClr val="tx2"/>
                </a:solidFill>
                <a:latin typeface="Cambria" panose="02040503050406030204" pitchFamily="34" charset="0"/>
                <a:ea typeface="Cambria" panose="02040503050406030204" pitchFamily="34" charset="-122"/>
                <a:cs typeface="Cambria" panose="02040503050406030204"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2148840"/>
            <a:ext cx="10424160" cy="1645920"/>
          </a:xfrm>
          <a:prstGeom prst="rect">
            <a:avLst/>
          </a:prstGeom>
          <a:noFill/>
        </p:spPr>
        <p:txBody>
          <a:bodyPr wrap="square" lIns="0" tIns="0" rIns="0" bIns="0" rtlCol="0" anchor="t"/>
          <a:lstStyle/>
          <a:p>
            <a:pPr indent="0">
              <a:spcAft>
                <a:spcPts val="1000"/>
              </a:spcAft>
              <a:buClr>
                <a:schemeClr val="accent1"/>
              </a:buClr>
              <a:buSzPct val="100000"/>
              <a:buNone/>
            </a:pPr>
            <a:r>
              <a:rPr lang="en-US" sz="1800" dirty="0">
                <a:solidFill>
                  <a:schemeClr val="tx1"/>
                </a:solidFill>
              </a:rPr>
              <a:t>1.What your team intends to do</a:t>
            </a:r>
          </a:p>
          <a:p>
            <a:pPr indent="0">
              <a:spcAft>
                <a:spcPts val="1000"/>
              </a:spcAft>
              <a:buClr>
                <a:schemeClr val="accent1"/>
              </a:buClr>
              <a:buSzPct val="100000"/>
              <a:buNone/>
            </a:pPr>
            <a:r>
              <a:rPr lang="en-US" altLang="en-US" sz="1800" dirty="0">
                <a:solidFill>
                  <a:schemeClr val="tx1"/>
                </a:solidFill>
              </a:rPr>
              <a:t>We aim to develop a simple AI-powered crop disease detection prototype that helps farmers identify possible diseases at an early stage using a photo of a plant leaf.</a:t>
            </a:r>
          </a:p>
          <a:p>
            <a:pPr indent="0">
              <a:spcAft>
                <a:spcPts val="1000"/>
              </a:spcAft>
              <a:buClr>
                <a:schemeClr val="accent1"/>
              </a:buClr>
              <a:buSzPct val="100000"/>
              <a:buNone/>
            </a:pPr>
            <a:r>
              <a:rPr lang="en-US" sz="1800" dirty="0">
                <a:solidFill>
                  <a:schemeClr val="tx1"/>
                </a:solidFill>
              </a:rPr>
              <a:t>2.What you want to improve</a:t>
            </a:r>
          </a:p>
          <a:p>
            <a:pPr indent="0">
              <a:spcAft>
                <a:spcPts val="1000"/>
              </a:spcAft>
              <a:buClr>
                <a:schemeClr val="accent1"/>
              </a:buClr>
              <a:buSzPct val="100000"/>
              <a:buNone/>
            </a:pPr>
            <a:r>
              <a:rPr lang="en-US" altLang="en-US" sz="1800" dirty="0">
                <a:solidFill>
                  <a:schemeClr val="tx1"/>
                </a:solidFill>
              </a:rPr>
              <a:t>We want to reduce the time and difficulty involved in recognising possible crop diseases. We also want to make preliminary disease information more accessible to farmers who may not have immediate access to experts.</a:t>
            </a:r>
          </a:p>
          <a:p>
            <a:pPr indent="0">
              <a:spcAft>
                <a:spcPts val="1000"/>
              </a:spcAft>
              <a:buClr>
                <a:schemeClr val="accent1"/>
              </a:buClr>
              <a:buSzPct val="100000"/>
              <a:buNone/>
            </a:pPr>
            <a:r>
              <a:rPr lang="en-US" sz="1800" dirty="0">
                <a:solidFill>
                  <a:schemeClr val="tx1"/>
                </a:solidFill>
              </a:rPr>
              <a:t>3.What successful improvement should you achieve</a:t>
            </a:r>
          </a:p>
          <a:p>
            <a:pPr indent="0">
              <a:spcAft>
                <a:spcPts val="1000"/>
              </a:spcAft>
              <a:buClr>
                <a:schemeClr val="accent1"/>
              </a:buClr>
              <a:buSzPct val="100000"/>
              <a:buNone/>
            </a:pPr>
            <a:r>
              <a:rPr lang="en-US" altLang="en-US" sz="1800" dirty="0">
                <a:solidFill>
                  <a:schemeClr val="tx1"/>
                </a:solidFill>
              </a:rPr>
              <a:t>We want to help farmers identify crop diseases early and get simple, reliable information about them, so they can protect their crops, reduce losses, and improve their harvests.</a:t>
            </a:r>
          </a:p>
        </p:txBody>
      </p:sp>
      <p:sp>
        <p:nvSpPr>
          <p:cNvPr id="25" name="Slide Number Placeholder 0"/>
          <p:cNvSpPr>
            <a:spLocks noGrp="1"/>
          </p:cNvSpPr>
          <p:nvPr>
            <p:ph type="sldNum" sz="quarter" idx="4294967295"/>
          </p:nvPr>
        </p:nvSpPr>
        <p:spPr>
          <a:xfrm>
            <a:off x="11259007" y="6409944"/>
            <a:ext cx="457200" cy="395935"/>
          </a:xfrm>
          <a:prstGeom prst="rect">
            <a:avLst/>
          </a:prstGeom>
        </p:spPr>
        <p:txBody>
          <a:bodyPr lIns="0" tIns="0" rIns="0" bIns="0" anchor="ctr"/>
          <a:lstStyle>
            <a:lvl1pPr>
              <a:defRPr sz="1100">
                <a:solidFill>
                  <a:schemeClr val="tx2"/>
                </a:solidFill>
                <a:latin typeface="Calibri" panose="020F0502020204030204"/>
                <a:ea typeface="Calibri" panose="020F0502020204030204"/>
                <a:cs typeface="Calibri" panose="020F0502020204030204"/>
              </a:defRPr>
            </a:lvl1pPr>
          </a:lstStyle>
          <a:p>
            <a:pPr algn="ctr"/>
            <a:fld id="{F7021451-1387-4CA6-816F-3879F97B5CBC}" type="slidenum">
              <a:rPr lang="en-US" b="1"/>
              <a:t>8</a:t>
            </a:fld>
            <a:endParaRPr lang="en-US"/>
          </a:p>
        </p:txBody>
      </p:sp>
      <p:sp>
        <p:nvSpPr>
          <p:cNvPr id="12" name="Team Name"/>
          <p:cNvSpPr txBox="1"/>
          <p:nvPr/>
        </p:nvSpPr>
        <p:spPr>
          <a:xfrm>
            <a:off x="1371600" y="384048"/>
            <a:ext cx="1627632" cy="694944"/>
          </a:xfrm>
          <a:prstGeom prst="rect">
            <a:avLst/>
          </a:prstGeom>
          <a:noFill/>
        </p:spPr>
        <p:txBody>
          <a:bodyPr wrap="square" lIns="0" tIns="0" rIns="0" bIns="0" rtlCol="0" anchor="ctr">
            <a:normAutofit/>
          </a:bodyPr>
          <a:lstStyle/>
          <a:p>
            <a:pPr marL="0" indent="0">
              <a:buNone/>
            </a:pPr>
            <a:r>
              <a:rPr lang="en-US" sz="1200" b="1" kern="0" spc="300" dirty="0">
                <a:solidFill>
                  <a:schemeClr val="accent5"/>
                </a:solidFill>
              </a:rPr>
              <a:t>TEAM</a:t>
            </a:r>
            <a:endParaRPr lang="en-US" sz="1200" dirty="0"/>
          </a:p>
          <a:p>
            <a:pPr marL="0" indent="0">
              <a:buNone/>
            </a:pPr>
            <a:r>
              <a:rPr lang="en-US" sz="2000" dirty="0"/>
              <a:t>Spark Titans</a:t>
            </a:r>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4802</Words>
  <Application>Microsoft Office PowerPoint</Application>
  <PresentationFormat>Widescreen</PresentationFormat>
  <Paragraphs>124</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Deepak E R - [CB.SC.U4CSE26611]</cp:lastModifiedBy>
  <cp:revision>4</cp:revision>
  <dcterms:created xsi:type="dcterms:W3CDTF">2026-10-07T15:27:00Z</dcterms:created>
  <dcterms:modified xsi:type="dcterms:W3CDTF">2026-10-10T10:09:10Z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24C367A15F214CB7879400F95AA58574_13</vt:lpwstr>
  </property>
</Properties>
</file>